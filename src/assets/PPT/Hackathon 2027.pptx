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2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Cambria" charset="1" panose="02040503050406030204"/>
      <p:regular r:id="rId15"/>
    </p:embeddedFont>
    <p:embeddedFont>
      <p:font typeface="Cambria Bold" charset="1" panose="02040803050406030204"/>
      <p:regular r:id="rId16"/>
    </p:embeddedFont>
    <p:embeddedFont>
      <p:font typeface="Times New Roman" charset="1" panose="02020603050405020304"/>
      <p:regular r:id="rId18"/>
    </p:embeddedFont>
    <p:embeddedFont>
      <p:font typeface="Arial Bold" charset="1" panose="020B0704020202020204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notesMasters/notesMaster1.xml" Type="http://schemas.openxmlformats.org/officeDocument/2006/relationships/notesMaster"/><Relationship Id="rId13" Target="theme/theme2.xml" Type="http://schemas.openxmlformats.org/officeDocument/2006/relationships/theme"/><Relationship Id="rId14" Target="notesSlides/notesSlide1.xml" Type="http://schemas.openxmlformats.org/officeDocument/2006/relationships/notesSlide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notesSlides/notesSlide2.xml" Type="http://schemas.openxmlformats.org/officeDocument/2006/relationships/notesSlide"/><Relationship Id="rId18" Target="fonts/font18.fntdata" Type="http://schemas.openxmlformats.org/officeDocument/2006/relationships/font"/><Relationship Id="rId19" Target="notesSlides/notesSlide3.xml" Type="http://schemas.openxmlformats.org/officeDocument/2006/relationships/notesSlide"/><Relationship Id="rId2" Target="presProps.xml" Type="http://schemas.openxmlformats.org/officeDocument/2006/relationships/presProps"/><Relationship Id="rId20" Target="notesSlides/notesSlide4.xml" Type="http://schemas.openxmlformats.org/officeDocument/2006/relationships/notesSlide"/><Relationship Id="rId21" Target="fonts/font21.fntdata" Type="http://schemas.openxmlformats.org/officeDocument/2006/relationships/font"/><Relationship Id="rId22" Target="notesSlides/notesSlide5.xml" Type="http://schemas.openxmlformats.org/officeDocument/2006/relationships/notesSlide"/><Relationship Id="rId23" Target="notesSlides/notesSlide6.xml" Type="http://schemas.openxmlformats.org/officeDocument/2006/relationships/notesSlide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.svg" Type="http://schemas.openxmlformats.org/officeDocument/2006/relationships/image"/><Relationship Id="rId11" Target="../media/image9.png" Type="http://schemas.openxmlformats.org/officeDocument/2006/relationships/image"/><Relationship Id="rId12" Target="../media/image10.svg" Type="http://schemas.openxmlformats.org/officeDocument/2006/relationships/image"/><Relationship Id="rId13" Target="../media/image11.png" Type="http://schemas.openxmlformats.org/officeDocument/2006/relationships/image"/><Relationship Id="rId14" Target="../media/image12.svg" Type="http://schemas.openxmlformats.org/officeDocument/2006/relationships/image"/><Relationship Id="rId15" Target="../media/image13.png" Type="http://schemas.openxmlformats.org/officeDocument/2006/relationships/image"/><Relationship Id="rId16" Target="../media/image14.svg" Type="http://schemas.openxmlformats.org/officeDocument/2006/relationships/image"/><Relationship Id="rId17" Target="../media/image15.png" Type="http://schemas.openxmlformats.org/officeDocument/2006/relationships/image"/><Relationship Id="rId18" Target="../media/image16.svg" Type="http://schemas.openxmlformats.org/officeDocument/2006/relationships/image"/><Relationship Id="rId19" Target="../media/image17.png" Type="http://schemas.openxmlformats.org/officeDocument/2006/relationships/image"/><Relationship Id="rId2" Target="../notesSlides/notesSlide1.xml" Type="http://schemas.openxmlformats.org/officeDocument/2006/relationships/notesSlide"/><Relationship Id="rId20" Target="../media/image18.svg" Type="http://schemas.openxmlformats.org/officeDocument/2006/relationships/image"/><Relationship Id="rId3" Target="../media/image1.png" Type="http://schemas.openxmlformats.org/officeDocument/2006/relationships/image"/><Relationship Id="rId4" Target="../media/image2.png" Type="http://schemas.openxmlformats.org/officeDocument/2006/relationships/image"/><Relationship Id="rId5" Target="../media/image3.pn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png" Type="http://schemas.openxmlformats.org/officeDocument/2006/relationships/image"/><Relationship Id="rId9" Target="../media/image7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9.jpeg" Type="http://schemas.openxmlformats.org/officeDocument/2006/relationships/image"/><Relationship Id="rId4" Target="../media/image9.png" Type="http://schemas.openxmlformats.org/officeDocument/2006/relationships/image"/><Relationship Id="rId5" Target="../media/image10.svg" Type="http://schemas.openxmlformats.org/officeDocument/2006/relationships/image"/><Relationship Id="rId6" Target="../media/image20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19.jpeg" Type="http://schemas.openxmlformats.org/officeDocument/2006/relationships/image"/><Relationship Id="rId4" Target="../media/image9.png" Type="http://schemas.openxmlformats.org/officeDocument/2006/relationships/image"/><Relationship Id="rId5" Target="../media/image10.svg" Type="http://schemas.openxmlformats.org/officeDocument/2006/relationships/image"/><Relationship Id="rId6" Target="../media/image20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9.jpeg" Type="http://schemas.openxmlformats.org/officeDocument/2006/relationships/image"/><Relationship Id="rId4" Target="../media/image9.png" Type="http://schemas.openxmlformats.org/officeDocument/2006/relationships/image"/><Relationship Id="rId5" Target="../media/image10.svg" Type="http://schemas.openxmlformats.org/officeDocument/2006/relationships/image"/><Relationship Id="rId6" Target="../media/image20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9.jpeg" Type="http://schemas.openxmlformats.org/officeDocument/2006/relationships/image"/><Relationship Id="rId4" Target="../media/image9.png" Type="http://schemas.openxmlformats.org/officeDocument/2006/relationships/image"/><Relationship Id="rId5" Target="../media/image10.svg" Type="http://schemas.openxmlformats.org/officeDocument/2006/relationships/image"/><Relationship Id="rId6" Target="../media/image20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9.jpeg" Type="http://schemas.openxmlformats.org/officeDocument/2006/relationships/image"/><Relationship Id="rId4" Target="../media/image9.png" Type="http://schemas.openxmlformats.org/officeDocument/2006/relationships/image"/><Relationship Id="rId5" Target="../media/image10.svg" Type="http://schemas.openxmlformats.org/officeDocument/2006/relationships/image"/><Relationship Id="rId6" Target="../media/image20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5409209" y="509368"/>
            <a:ext cx="3382137" cy="1375982"/>
            <a:chOff x="0" y="0"/>
            <a:chExt cx="4509516" cy="183464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509516" cy="1834642"/>
            </a:xfrm>
            <a:custGeom>
              <a:avLst/>
              <a:gdLst/>
              <a:ahLst/>
              <a:cxnLst/>
              <a:rect r="r" b="b" t="t" l="l"/>
              <a:pathLst>
                <a:path h="1834642" w="4509516">
                  <a:moveTo>
                    <a:pt x="0" y="0"/>
                  </a:moveTo>
                  <a:lnTo>
                    <a:pt x="4509516" y="0"/>
                  </a:lnTo>
                  <a:lnTo>
                    <a:pt x="4509516" y="1834642"/>
                  </a:lnTo>
                  <a:lnTo>
                    <a:pt x="0" y="18346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72899" r="0" b="-72899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649738" y="537277"/>
            <a:ext cx="4337314" cy="1320165"/>
            <a:chOff x="0" y="0"/>
            <a:chExt cx="5783085" cy="176022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783072" cy="1760220"/>
            </a:xfrm>
            <a:custGeom>
              <a:avLst/>
              <a:gdLst/>
              <a:ahLst/>
              <a:cxnLst/>
              <a:rect r="r" b="b" t="t" l="l"/>
              <a:pathLst>
                <a:path h="1760220" w="5783072">
                  <a:moveTo>
                    <a:pt x="0" y="0"/>
                  </a:moveTo>
                  <a:lnTo>
                    <a:pt x="5783072" y="0"/>
                  </a:lnTo>
                  <a:lnTo>
                    <a:pt x="5783072" y="1760220"/>
                  </a:lnTo>
                  <a:lnTo>
                    <a:pt x="0" y="17602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729" t="0" r="-729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9057056" y="702888"/>
            <a:ext cx="4510126" cy="988933"/>
            <a:chOff x="0" y="0"/>
            <a:chExt cx="6013501" cy="131857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013450" cy="1318514"/>
            </a:xfrm>
            <a:custGeom>
              <a:avLst/>
              <a:gdLst/>
              <a:ahLst/>
              <a:cxnLst/>
              <a:rect r="r" b="b" t="t" l="l"/>
              <a:pathLst>
                <a:path h="1318514" w="6013450">
                  <a:moveTo>
                    <a:pt x="0" y="0"/>
                  </a:moveTo>
                  <a:lnTo>
                    <a:pt x="6013450" y="0"/>
                  </a:lnTo>
                  <a:lnTo>
                    <a:pt x="6013450" y="1318514"/>
                  </a:lnTo>
                  <a:lnTo>
                    <a:pt x="0" y="13185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-4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13820003" y="526933"/>
            <a:ext cx="4220718" cy="1547222"/>
            <a:chOff x="0" y="0"/>
            <a:chExt cx="5627624" cy="2062963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627624" cy="2062988"/>
            </a:xfrm>
            <a:custGeom>
              <a:avLst/>
              <a:gdLst/>
              <a:ahLst/>
              <a:cxnLst/>
              <a:rect r="r" b="b" t="t" l="l"/>
              <a:pathLst>
                <a:path h="2062988" w="5627624">
                  <a:moveTo>
                    <a:pt x="0" y="0"/>
                  </a:moveTo>
                  <a:lnTo>
                    <a:pt x="5627624" y="0"/>
                  </a:lnTo>
                  <a:lnTo>
                    <a:pt x="5627624" y="2062988"/>
                  </a:lnTo>
                  <a:lnTo>
                    <a:pt x="0" y="20629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1"/>
              </a:stretch>
            </a:blipFill>
          </p:spPr>
        </p:sp>
      </p:grpSp>
      <p:sp>
        <p:nvSpPr>
          <p:cNvPr name="Freeform 11" id="11"/>
          <p:cNvSpPr/>
          <p:nvPr/>
        </p:nvSpPr>
        <p:spPr>
          <a:xfrm flipH="false" flipV="false" rot="-1134415">
            <a:off x="324660" y="2398814"/>
            <a:ext cx="2404192" cy="2404192"/>
          </a:xfrm>
          <a:custGeom>
            <a:avLst/>
            <a:gdLst/>
            <a:ahLst/>
            <a:cxnLst/>
            <a:rect r="r" b="b" t="t" l="l"/>
            <a:pathLst>
              <a:path h="2404192" w="2404192">
                <a:moveTo>
                  <a:pt x="0" y="0"/>
                </a:moveTo>
                <a:lnTo>
                  <a:pt x="2404192" y="0"/>
                </a:lnTo>
                <a:lnTo>
                  <a:pt x="2404192" y="2404193"/>
                </a:lnTo>
                <a:lnTo>
                  <a:pt x="0" y="240419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6262600" y="2577575"/>
            <a:ext cx="1495512" cy="1328984"/>
          </a:xfrm>
          <a:custGeom>
            <a:avLst/>
            <a:gdLst/>
            <a:ahLst/>
            <a:cxnLst/>
            <a:rect r="r" b="b" t="t" l="l"/>
            <a:pathLst>
              <a:path h="1328984" w="1495512">
                <a:moveTo>
                  <a:pt x="0" y="0"/>
                </a:moveTo>
                <a:lnTo>
                  <a:pt x="1495512" y="0"/>
                </a:lnTo>
                <a:lnTo>
                  <a:pt x="1495512" y="1328985"/>
                </a:lnTo>
                <a:lnTo>
                  <a:pt x="0" y="132898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-13975" t="-29197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3" id="13"/>
          <p:cNvSpPr/>
          <p:nvPr/>
        </p:nvSpPr>
        <p:spPr>
          <a:xfrm flipH="false" flipV="false" rot="0">
            <a:off x="0" y="9424245"/>
            <a:ext cx="18288000" cy="862755"/>
          </a:xfrm>
          <a:custGeom>
            <a:avLst/>
            <a:gdLst/>
            <a:ahLst/>
            <a:cxnLst/>
            <a:rect r="r" b="b" t="t" l="l"/>
            <a:pathLst>
              <a:path h="862755" w="18288000">
                <a:moveTo>
                  <a:pt x="0" y="0"/>
                </a:moveTo>
                <a:lnTo>
                  <a:pt x="18288000" y="0"/>
                </a:lnTo>
                <a:lnTo>
                  <a:pt x="18288000" y="862755"/>
                </a:lnTo>
                <a:lnTo>
                  <a:pt x="0" y="862755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4" id="14"/>
          <p:cNvGrpSpPr/>
          <p:nvPr/>
        </p:nvGrpSpPr>
        <p:grpSpPr>
          <a:xfrm rot="0">
            <a:off x="1466773" y="4994201"/>
            <a:ext cx="664213" cy="664213"/>
            <a:chOff x="0" y="0"/>
            <a:chExt cx="885617" cy="885617"/>
          </a:xfrm>
        </p:grpSpPr>
        <p:grpSp>
          <p:nvGrpSpPr>
            <p:cNvPr name="Group 15" id="15"/>
            <p:cNvGrpSpPr/>
            <p:nvPr/>
          </p:nvGrpSpPr>
          <p:grpSpPr>
            <a:xfrm rot="0">
              <a:off x="0" y="0"/>
              <a:ext cx="885617" cy="885617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B9D1BF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9525"/>
                <a:ext cx="660400" cy="7270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24"/>
                  </a:lnSpc>
                </a:pPr>
              </a:p>
            </p:txBody>
          </p:sp>
        </p:grpSp>
        <p:sp>
          <p:nvSpPr>
            <p:cNvPr name="Freeform 18" id="18"/>
            <p:cNvSpPr/>
            <p:nvPr/>
          </p:nvSpPr>
          <p:spPr>
            <a:xfrm flipH="false" flipV="false" rot="0">
              <a:off x="239458" y="180882"/>
              <a:ext cx="406701" cy="523854"/>
            </a:xfrm>
            <a:custGeom>
              <a:avLst/>
              <a:gdLst/>
              <a:ahLst/>
              <a:cxnLst/>
              <a:rect r="r" b="b" t="t" l="l"/>
              <a:pathLst>
                <a:path h="523854" w="406701">
                  <a:moveTo>
                    <a:pt x="0" y="0"/>
                  </a:moveTo>
                  <a:lnTo>
                    <a:pt x="406701" y="0"/>
                  </a:lnTo>
                  <a:lnTo>
                    <a:pt x="406701" y="523854"/>
                  </a:lnTo>
                  <a:lnTo>
                    <a:pt x="0" y="52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1466773" y="6067989"/>
            <a:ext cx="664213" cy="664213"/>
            <a:chOff x="0" y="0"/>
            <a:chExt cx="885617" cy="885617"/>
          </a:xfrm>
        </p:grpSpPr>
        <p:grpSp>
          <p:nvGrpSpPr>
            <p:cNvPr name="Group 20" id="20"/>
            <p:cNvGrpSpPr/>
            <p:nvPr/>
          </p:nvGrpSpPr>
          <p:grpSpPr>
            <a:xfrm rot="0">
              <a:off x="0" y="0"/>
              <a:ext cx="885617" cy="885617"/>
              <a:chOff x="0" y="0"/>
              <a:chExt cx="812800" cy="812800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B9D1BF"/>
              </a:solidFill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76200" y="9525"/>
                <a:ext cx="660400" cy="7270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24"/>
                  </a:lnSpc>
                </a:pPr>
              </a:p>
            </p:txBody>
          </p:sp>
        </p:grpSp>
        <p:sp>
          <p:nvSpPr>
            <p:cNvPr name="Freeform 23" id="23"/>
            <p:cNvSpPr/>
            <p:nvPr/>
          </p:nvSpPr>
          <p:spPr>
            <a:xfrm flipH="false" flipV="false" rot="0">
              <a:off x="158334" y="239021"/>
              <a:ext cx="568949" cy="407574"/>
            </a:xfrm>
            <a:custGeom>
              <a:avLst/>
              <a:gdLst/>
              <a:ahLst/>
              <a:cxnLst/>
              <a:rect r="r" b="b" t="t" l="l"/>
              <a:pathLst>
                <a:path h="407574" w="568949">
                  <a:moveTo>
                    <a:pt x="0" y="0"/>
                  </a:moveTo>
                  <a:lnTo>
                    <a:pt x="568949" y="0"/>
                  </a:lnTo>
                  <a:lnTo>
                    <a:pt x="568949" y="407575"/>
                  </a:lnTo>
                  <a:lnTo>
                    <a:pt x="0" y="4075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466773" y="7137695"/>
            <a:ext cx="664213" cy="664213"/>
            <a:chOff x="0" y="0"/>
            <a:chExt cx="885617" cy="885617"/>
          </a:xfrm>
        </p:grpSpPr>
        <p:grpSp>
          <p:nvGrpSpPr>
            <p:cNvPr name="Group 25" id="25"/>
            <p:cNvGrpSpPr/>
            <p:nvPr/>
          </p:nvGrpSpPr>
          <p:grpSpPr>
            <a:xfrm rot="0">
              <a:off x="0" y="0"/>
              <a:ext cx="885617" cy="885617"/>
              <a:chOff x="0" y="0"/>
              <a:chExt cx="812800" cy="812800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B9D1B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76200" y="9525"/>
                <a:ext cx="660400" cy="7270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24"/>
                  </a:lnSpc>
                </a:pPr>
              </a:p>
            </p:txBody>
          </p:sp>
        </p:grpSp>
        <p:sp>
          <p:nvSpPr>
            <p:cNvPr name="Freeform 28" id="28"/>
            <p:cNvSpPr/>
            <p:nvPr/>
          </p:nvSpPr>
          <p:spPr>
            <a:xfrm flipH="false" flipV="false" rot="0">
              <a:off x="197640" y="167056"/>
              <a:ext cx="490338" cy="551505"/>
            </a:xfrm>
            <a:custGeom>
              <a:avLst/>
              <a:gdLst/>
              <a:ahLst/>
              <a:cxnLst/>
              <a:rect r="r" b="b" t="t" l="l"/>
              <a:pathLst>
                <a:path h="551505" w="490338">
                  <a:moveTo>
                    <a:pt x="0" y="0"/>
                  </a:moveTo>
                  <a:lnTo>
                    <a:pt x="490338" y="0"/>
                  </a:lnTo>
                  <a:lnTo>
                    <a:pt x="490338" y="551505"/>
                  </a:lnTo>
                  <a:lnTo>
                    <a:pt x="0" y="5515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1466773" y="8238787"/>
            <a:ext cx="664213" cy="664213"/>
            <a:chOff x="0" y="0"/>
            <a:chExt cx="885617" cy="885617"/>
          </a:xfrm>
        </p:grpSpPr>
        <p:grpSp>
          <p:nvGrpSpPr>
            <p:cNvPr name="Group 30" id="30"/>
            <p:cNvGrpSpPr/>
            <p:nvPr/>
          </p:nvGrpSpPr>
          <p:grpSpPr>
            <a:xfrm rot="0">
              <a:off x="0" y="0"/>
              <a:ext cx="885617" cy="885617"/>
              <a:chOff x="0" y="0"/>
              <a:chExt cx="812800" cy="812800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B9D1BF"/>
              </a:solidFill>
            </p:spPr>
          </p:sp>
          <p:sp>
            <p:nvSpPr>
              <p:cNvPr name="TextBox 32" id="32"/>
              <p:cNvSpPr txBox="true"/>
              <p:nvPr/>
            </p:nvSpPr>
            <p:spPr>
              <a:xfrm>
                <a:off x="76200" y="9525"/>
                <a:ext cx="660400" cy="7270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24"/>
                  </a:lnSpc>
                </a:pPr>
              </a:p>
            </p:txBody>
          </p:sp>
        </p:grpSp>
        <p:sp>
          <p:nvSpPr>
            <p:cNvPr name="Freeform 33" id="33"/>
            <p:cNvSpPr/>
            <p:nvPr/>
          </p:nvSpPr>
          <p:spPr>
            <a:xfrm flipH="false" flipV="false" rot="0">
              <a:off x="155110" y="193818"/>
              <a:ext cx="575398" cy="497981"/>
            </a:xfrm>
            <a:custGeom>
              <a:avLst/>
              <a:gdLst/>
              <a:ahLst/>
              <a:cxnLst/>
              <a:rect r="r" b="b" t="t" l="l"/>
              <a:pathLst>
                <a:path h="497981" w="575398">
                  <a:moveTo>
                    <a:pt x="0" y="0"/>
                  </a:moveTo>
                  <a:lnTo>
                    <a:pt x="575397" y="0"/>
                  </a:lnTo>
                  <a:lnTo>
                    <a:pt x="575397" y="497981"/>
                  </a:lnTo>
                  <a:lnTo>
                    <a:pt x="0" y="4979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2311687" y="4501225"/>
            <a:ext cx="14386131" cy="4430350"/>
            <a:chOff x="0" y="0"/>
            <a:chExt cx="19181508" cy="5907133"/>
          </a:xfrm>
        </p:grpSpPr>
        <p:sp>
          <p:nvSpPr>
            <p:cNvPr name="TextBox 35" id="35"/>
            <p:cNvSpPr txBox="true"/>
            <p:nvPr/>
          </p:nvSpPr>
          <p:spPr>
            <a:xfrm rot="0">
              <a:off x="0" y="-47625"/>
              <a:ext cx="19181508" cy="58838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472"/>
                </a:lnSpc>
              </a:pPr>
            </a:p>
            <a:p>
              <a:pPr algn="just">
                <a:lnSpc>
                  <a:spcPts val="4313"/>
                </a:lnSpc>
              </a:pPr>
              <a:r>
                <a:rPr lang="en-US" sz="3451">
                  <a:solidFill>
                    <a:srgbClr val="0B533D"/>
                  </a:solidFill>
                  <a:latin typeface="Cambria"/>
                  <a:ea typeface="Cambria"/>
                  <a:cs typeface="Cambria"/>
                  <a:sym typeface="Cambria"/>
                </a:rPr>
                <a:t>Problem Statement Title: </a:t>
              </a:r>
            </a:p>
            <a:p>
              <a:pPr algn="just">
                <a:lnSpc>
                  <a:spcPts val="4313"/>
                </a:lnSpc>
              </a:pPr>
            </a:p>
            <a:p>
              <a:pPr algn="just">
                <a:lnSpc>
                  <a:spcPts val="4313"/>
                </a:lnSpc>
              </a:pPr>
              <a:r>
                <a:rPr lang="en-US" sz="3451">
                  <a:solidFill>
                    <a:srgbClr val="0B533D"/>
                  </a:solidFill>
                  <a:latin typeface="Cambria"/>
                  <a:ea typeface="Cambria"/>
                  <a:cs typeface="Cambria"/>
                  <a:sym typeface="Cambria"/>
                </a:rPr>
                <a:t>Team Name: </a:t>
              </a:r>
            </a:p>
            <a:p>
              <a:pPr algn="just">
                <a:lnSpc>
                  <a:spcPts val="4313"/>
                </a:lnSpc>
              </a:pPr>
            </a:p>
            <a:p>
              <a:pPr algn="l">
                <a:lnSpc>
                  <a:spcPts val="4472"/>
                </a:lnSpc>
              </a:pPr>
              <a:r>
                <a:rPr lang="en-US" sz="3451">
                  <a:solidFill>
                    <a:srgbClr val="0B533D"/>
                  </a:solidFill>
                  <a:latin typeface="Cambria"/>
                  <a:ea typeface="Cambria"/>
                  <a:cs typeface="Cambria"/>
                  <a:sym typeface="Cambria"/>
                </a:rPr>
                <a:t>Team Leader Name: </a:t>
              </a:r>
            </a:p>
            <a:p>
              <a:pPr algn="l">
                <a:lnSpc>
                  <a:spcPts val="4472"/>
                </a:lnSpc>
              </a:pPr>
            </a:p>
            <a:p>
              <a:pPr algn="l">
                <a:lnSpc>
                  <a:spcPts val="4472"/>
                </a:lnSpc>
              </a:pPr>
              <a:r>
                <a:rPr lang="en-US" sz="3451">
                  <a:solidFill>
                    <a:srgbClr val="0B533D"/>
                  </a:solidFill>
                  <a:latin typeface="Cambria"/>
                  <a:ea typeface="Cambria"/>
                  <a:cs typeface="Cambria"/>
                  <a:sym typeface="Cambria"/>
                </a:rPr>
                <a:t>Institute Name: </a:t>
              </a:r>
            </a:p>
          </p:txBody>
        </p:sp>
        <p:sp>
          <p:nvSpPr>
            <p:cNvPr name="AutoShape 36" id="36"/>
            <p:cNvSpPr/>
            <p:nvPr/>
          </p:nvSpPr>
          <p:spPr>
            <a:xfrm>
              <a:off x="6384423" y="1409077"/>
              <a:ext cx="6767029" cy="0"/>
            </a:xfrm>
            <a:prstGeom prst="line">
              <a:avLst/>
            </a:prstGeom>
            <a:ln cap="flat" w="38100">
              <a:solidFill>
                <a:srgbClr val="DDE7D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37" id="37"/>
            <p:cNvSpPr/>
            <p:nvPr/>
          </p:nvSpPr>
          <p:spPr>
            <a:xfrm>
              <a:off x="3256035" y="2870559"/>
              <a:ext cx="6767029" cy="0"/>
            </a:xfrm>
            <a:prstGeom prst="line">
              <a:avLst/>
            </a:prstGeom>
            <a:ln cap="flat" w="38100">
              <a:solidFill>
                <a:srgbClr val="DDE7D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38" id="38"/>
            <p:cNvSpPr/>
            <p:nvPr/>
          </p:nvSpPr>
          <p:spPr>
            <a:xfrm>
              <a:off x="5032007" y="4381859"/>
              <a:ext cx="6767029" cy="0"/>
            </a:xfrm>
            <a:prstGeom prst="line">
              <a:avLst/>
            </a:prstGeom>
            <a:ln cap="flat" w="38100">
              <a:solidFill>
                <a:srgbClr val="DDE7D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39" id="39"/>
            <p:cNvSpPr/>
            <p:nvPr/>
          </p:nvSpPr>
          <p:spPr>
            <a:xfrm>
              <a:off x="3967937" y="5888083"/>
              <a:ext cx="6767029" cy="0"/>
            </a:xfrm>
            <a:prstGeom prst="line">
              <a:avLst/>
            </a:prstGeom>
            <a:ln cap="flat" w="38100">
              <a:solidFill>
                <a:srgbClr val="DDE7DF"/>
              </a:solidFill>
              <a:prstDash val="solid"/>
              <a:headEnd type="none" len="sm" w="sm"/>
              <a:tailEnd type="none" len="sm" w="sm"/>
            </a:ln>
          </p:spPr>
        </p:sp>
      </p:grpSp>
      <p:sp>
        <p:nvSpPr>
          <p:cNvPr name="AutoShape 40" id="40"/>
          <p:cNvSpPr/>
          <p:nvPr/>
        </p:nvSpPr>
        <p:spPr>
          <a:xfrm>
            <a:off x="2591033" y="3982113"/>
            <a:ext cx="1851728" cy="0"/>
          </a:xfrm>
          <a:prstGeom prst="line">
            <a:avLst/>
          </a:prstGeom>
          <a:ln cap="rnd" w="47625">
            <a:solidFill>
              <a:srgbClr val="04534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1" id="41"/>
          <p:cNvSpPr txBox="true"/>
          <p:nvPr/>
        </p:nvSpPr>
        <p:spPr>
          <a:xfrm rot="0">
            <a:off x="6208852" y="9703384"/>
            <a:ext cx="5346630" cy="4534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7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SRCAS HACKATHON - 3.0 template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2591033" y="2388026"/>
            <a:ext cx="15449688" cy="8540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10"/>
              </a:lnSpc>
            </a:pPr>
            <a:r>
              <a:rPr lang="en-US" b="true" sz="4800" spc="240">
                <a:solidFill>
                  <a:srgbClr val="045340"/>
                </a:solidFill>
                <a:latin typeface="Cambria Bold"/>
                <a:ea typeface="Cambria Bold"/>
                <a:cs typeface="Cambria Bold"/>
                <a:sym typeface="Cambria Bold"/>
              </a:rPr>
              <a:t>SRCAS H</a:t>
            </a:r>
            <a:r>
              <a:rPr lang="en-US" b="true" sz="4800" spc="240">
                <a:solidFill>
                  <a:srgbClr val="045340"/>
                </a:solidFill>
                <a:latin typeface="Cambria Bold"/>
                <a:ea typeface="Cambria Bold"/>
                <a:cs typeface="Cambria Bold"/>
                <a:sym typeface="Cambria Bold"/>
              </a:rPr>
              <a:t>ACKATHON 3.0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2591033" y="3427218"/>
            <a:ext cx="15449688" cy="358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1999" spc="279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INNOVATE </a:t>
            </a:r>
            <a:r>
              <a:rPr lang="en-US" sz="1999" spc="279">
                <a:solidFill>
                  <a:srgbClr val="07533F"/>
                </a:solidFill>
                <a:latin typeface="Cambria"/>
                <a:ea typeface="Cambria"/>
                <a:cs typeface="Cambria"/>
                <a:sym typeface="Cambria"/>
              </a:rPr>
              <a:t>•</a:t>
            </a:r>
            <a:r>
              <a:rPr lang="en-US" sz="1999" spc="279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 BUILD</a:t>
            </a:r>
            <a:r>
              <a:rPr lang="en-US" sz="1999" spc="279">
                <a:solidFill>
                  <a:srgbClr val="07533F"/>
                </a:solidFill>
                <a:latin typeface="Cambria"/>
                <a:ea typeface="Cambria"/>
                <a:cs typeface="Cambria"/>
                <a:sym typeface="Cambria"/>
              </a:rPr>
              <a:t> •</a:t>
            </a:r>
            <a:r>
              <a:rPr lang="en-US" sz="1999" spc="279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 IMPACT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76320">
            <a:off x="1058208" y="1993421"/>
            <a:ext cx="3490598" cy="57150"/>
            <a:chOff x="0" y="0"/>
            <a:chExt cx="4654131" cy="76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654169" cy="76200"/>
            </a:xfrm>
            <a:custGeom>
              <a:avLst/>
              <a:gdLst/>
              <a:ahLst/>
              <a:cxnLst/>
              <a:rect r="r" b="b" t="t" l="l"/>
              <a:pathLst>
                <a:path h="76200" w="4654169">
                  <a:moveTo>
                    <a:pt x="0" y="0"/>
                  </a:moveTo>
                  <a:lnTo>
                    <a:pt x="4654169" y="76200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0" t="-1140103" r="0" b="-1140103"/>
              </a:stretch>
            </a:blipFill>
            <a:ln w="57150" cap="sq">
              <a:solidFill>
                <a:srgbClr val="0B533D"/>
              </a:solidFill>
              <a:prstDash val="solid"/>
              <a:miter/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17192777" y="9580493"/>
            <a:ext cx="784803" cy="4564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24"/>
              </a:lnSpc>
            </a:pPr>
            <a:r>
              <a:rPr lang="en-US" sz="21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0" y="9424245"/>
            <a:ext cx="18288000" cy="862755"/>
          </a:xfrm>
          <a:custGeom>
            <a:avLst/>
            <a:gdLst/>
            <a:ahLst/>
            <a:cxnLst/>
            <a:rect r="r" b="b" t="t" l="l"/>
            <a:pathLst>
              <a:path h="862755" w="18288000">
                <a:moveTo>
                  <a:pt x="0" y="0"/>
                </a:moveTo>
                <a:lnTo>
                  <a:pt x="18288000" y="0"/>
                </a:lnTo>
                <a:lnTo>
                  <a:pt x="18288000" y="862755"/>
                </a:lnTo>
                <a:lnTo>
                  <a:pt x="0" y="8627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4714122" y="342716"/>
            <a:ext cx="3263458" cy="982059"/>
          </a:xfrm>
          <a:custGeom>
            <a:avLst/>
            <a:gdLst/>
            <a:ahLst/>
            <a:cxnLst/>
            <a:rect r="r" b="b" t="t" l="l"/>
            <a:pathLst>
              <a:path h="982059" w="3263458">
                <a:moveTo>
                  <a:pt x="0" y="0"/>
                </a:moveTo>
                <a:lnTo>
                  <a:pt x="3263458" y="0"/>
                </a:lnTo>
                <a:lnTo>
                  <a:pt x="3263458" y="982059"/>
                </a:lnTo>
                <a:lnTo>
                  <a:pt x="0" y="9820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781850"/>
            <a:ext cx="8301599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97"/>
              </a:lnSpc>
            </a:pPr>
            <a:r>
              <a:rPr lang="en-US" sz="5939" b="true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Idea/Approach Details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2859157"/>
            <a:ext cx="16556479" cy="25463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00101" indent="-266700" lvl="2">
              <a:lnSpc>
                <a:spcPts val="8750"/>
              </a:lnSpc>
              <a:buAutoNum type="arabicPeriod" startAt="1"/>
            </a:pPr>
            <a:r>
              <a:rPr lang="en-US" sz="3500">
                <a:solidFill>
                  <a:srgbClr val="0B53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Describe your core idea and approach – Clearly explain your project.</a:t>
            </a:r>
          </a:p>
          <a:p>
            <a:pPr algn="l" marL="800101" indent="-266700" lvl="2">
              <a:lnSpc>
                <a:spcPts val="8750"/>
              </a:lnSpc>
              <a:buAutoNum type="arabicPeriod" startAt="1"/>
            </a:pPr>
            <a:r>
              <a:rPr lang="en-US" sz="3500">
                <a:solidFill>
                  <a:srgbClr val="0B53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How it solves the problem, and key innovation behind your solution.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208852" y="9703384"/>
            <a:ext cx="5346630" cy="4534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7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SRCAS HACKATHON - 3.0 template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76320">
            <a:off x="1058208" y="1993421"/>
            <a:ext cx="3490598" cy="57150"/>
            <a:chOff x="0" y="0"/>
            <a:chExt cx="4654131" cy="76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654169" cy="76200"/>
            </a:xfrm>
            <a:custGeom>
              <a:avLst/>
              <a:gdLst/>
              <a:ahLst/>
              <a:cxnLst/>
              <a:rect r="r" b="b" t="t" l="l"/>
              <a:pathLst>
                <a:path h="76200" w="4654169">
                  <a:moveTo>
                    <a:pt x="0" y="0"/>
                  </a:moveTo>
                  <a:lnTo>
                    <a:pt x="4654169" y="76200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0" t="-1140103" r="0" b="-1140103"/>
              </a:stretch>
            </a:blipFill>
            <a:ln w="57150" cap="sq">
              <a:solidFill>
                <a:srgbClr val="0B533D"/>
              </a:solidFill>
              <a:prstDash val="solid"/>
              <a:miter/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1028700" y="781850"/>
            <a:ext cx="8301599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97"/>
              </a:lnSpc>
            </a:pPr>
            <a:r>
              <a:rPr lang="en-US" sz="5939" b="true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Idea/Approach Details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192777" y="9580493"/>
            <a:ext cx="784803" cy="4564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24"/>
              </a:lnSpc>
            </a:pPr>
            <a:r>
              <a:rPr lang="en-US" sz="21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0" y="9424245"/>
            <a:ext cx="18288000" cy="862755"/>
          </a:xfrm>
          <a:custGeom>
            <a:avLst/>
            <a:gdLst/>
            <a:ahLst/>
            <a:cxnLst/>
            <a:rect r="r" b="b" t="t" l="l"/>
            <a:pathLst>
              <a:path h="862755" w="18288000">
                <a:moveTo>
                  <a:pt x="0" y="0"/>
                </a:moveTo>
                <a:lnTo>
                  <a:pt x="18288000" y="0"/>
                </a:lnTo>
                <a:lnTo>
                  <a:pt x="18288000" y="862755"/>
                </a:lnTo>
                <a:lnTo>
                  <a:pt x="0" y="8627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6208852" y="9703384"/>
            <a:ext cx="5346630" cy="4534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7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SRCAS HACKATHON - 3.0 template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2573407"/>
            <a:ext cx="16556479" cy="3651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00101" indent="-266700" lvl="2">
              <a:lnSpc>
                <a:spcPts val="8750"/>
              </a:lnSpc>
              <a:buAutoNum type="arabicPeriod" startAt="1"/>
            </a:pPr>
            <a:r>
              <a:rPr lang="en-US" sz="3500">
                <a:solidFill>
                  <a:srgbClr val="0B53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Include your flowchart – Add a simple process flow diagram showing how your solution works.</a:t>
            </a:r>
          </a:p>
          <a:p>
            <a:pPr algn="l" marL="800101" indent="-266700" lvl="2">
              <a:lnSpc>
                <a:spcPts val="8750"/>
              </a:lnSpc>
              <a:buAutoNum type="arabicPeriod" startAt="1"/>
            </a:pPr>
            <a:r>
              <a:rPr lang="en-US" sz="3500">
                <a:solidFill>
                  <a:srgbClr val="0B53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Technical stack - List the main tools, frameworks, or technologies used.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4714122" y="342716"/>
            <a:ext cx="3263458" cy="982059"/>
          </a:xfrm>
          <a:custGeom>
            <a:avLst/>
            <a:gdLst/>
            <a:ahLst/>
            <a:cxnLst/>
            <a:rect r="r" b="b" t="t" l="l"/>
            <a:pathLst>
              <a:path h="982059" w="3263458">
                <a:moveTo>
                  <a:pt x="0" y="0"/>
                </a:moveTo>
                <a:lnTo>
                  <a:pt x="3263458" y="0"/>
                </a:lnTo>
                <a:lnTo>
                  <a:pt x="3263458" y="982059"/>
                </a:lnTo>
                <a:lnTo>
                  <a:pt x="0" y="9820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24560" y="1816284"/>
            <a:ext cx="3850062" cy="57150"/>
            <a:chOff x="0" y="0"/>
            <a:chExt cx="5133416" cy="76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133467" cy="76200"/>
            </a:xfrm>
            <a:custGeom>
              <a:avLst/>
              <a:gdLst/>
              <a:ahLst/>
              <a:cxnLst/>
              <a:rect r="r" b="b" t="t" l="l"/>
              <a:pathLst>
                <a:path h="76200" w="5133467">
                  <a:moveTo>
                    <a:pt x="0" y="0"/>
                  </a:moveTo>
                  <a:lnTo>
                    <a:pt x="5133467" y="76200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0" t="-1262661" r="0" b="-1262661"/>
              </a:stretch>
            </a:blipFill>
            <a:ln w="57150" cap="sq">
              <a:solidFill>
                <a:srgbClr val="0B533D"/>
              </a:solidFill>
              <a:prstDash val="solid"/>
              <a:miter/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1125312" y="585664"/>
            <a:ext cx="8671198" cy="990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51"/>
              </a:lnSpc>
            </a:pPr>
            <a:r>
              <a:rPr lang="en-US" sz="39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Feasibility &amp; Viability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289370" y="9572720"/>
            <a:ext cx="784803" cy="4564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24"/>
              </a:lnSpc>
            </a:pPr>
            <a:r>
              <a:rPr lang="en-US" sz="21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0" y="9424245"/>
            <a:ext cx="18288000" cy="862755"/>
          </a:xfrm>
          <a:custGeom>
            <a:avLst/>
            <a:gdLst/>
            <a:ahLst/>
            <a:cxnLst/>
            <a:rect r="r" b="b" t="t" l="l"/>
            <a:pathLst>
              <a:path h="862755" w="18288000">
                <a:moveTo>
                  <a:pt x="0" y="0"/>
                </a:moveTo>
                <a:lnTo>
                  <a:pt x="18288000" y="0"/>
                </a:lnTo>
                <a:lnTo>
                  <a:pt x="18288000" y="862755"/>
                </a:lnTo>
                <a:lnTo>
                  <a:pt x="0" y="8627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6208852" y="9703384"/>
            <a:ext cx="5346630" cy="4534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7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SRCAS HACKATHON - 3.0 template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2573407"/>
            <a:ext cx="16556479" cy="3651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00101" indent="-266700" lvl="2">
              <a:lnSpc>
                <a:spcPts val="8750"/>
              </a:lnSpc>
              <a:buAutoNum type="arabicPeriod" startAt="1"/>
            </a:pPr>
            <a:r>
              <a:rPr lang="en-US" sz="3500">
                <a:solidFill>
                  <a:srgbClr val="0B53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Analysis of the feasibilty of the idea</a:t>
            </a:r>
          </a:p>
          <a:p>
            <a:pPr algn="l" marL="800101" indent="-266700" lvl="2">
              <a:lnSpc>
                <a:spcPts val="8750"/>
              </a:lnSpc>
              <a:buAutoNum type="arabicPeriod" startAt="1"/>
            </a:pPr>
            <a:r>
              <a:rPr lang="en-US" sz="3500">
                <a:solidFill>
                  <a:srgbClr val="0B53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Potential challenges and risk</a:t>
            </a:r>
          </a:p>
          <a:p>
            <a:pPr algn="l" marL="800101" indent="-266700" lvl="2">
              <a:lnSpc>
                <a:spcPts val="8750"/>
              </a:lnSpc>
              <a:buAutoNum type="arabicPeriod" startAt="1"/>
            </a:pPr>
            <a:r>
              <a:rPr lang="en-US" sz="3500">
                <a:solidFill>
                  <a:srgbClr val="0B53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Stratergies for overcoming these challenges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4714122" y="342716"/>
            <a:ext cx="3263458" cy="982059"/>
          </a:xfrm>
          <a:custGeom>
            <a:avLst/>
            <a:gdLst/>
            <a:ahLst/>
            <a:cxnLst/>
            <a:rect r="r" b="b" t="t" l="l"/>
            <a:pathLst>
              <a:path h="982059" w="3263458">
                <a:moveTo>
                  <a:pt x="0" y="0"/>
                </a:moveTo>
                <a:lnTo>
                  <a:pt x="3263458" y="0"/>
                </a:lnTo>
                <a:lnTo>
                  <a:pt x="3263458" y="982059"/>
                </a:lnTo>
                <a:lnTo>
                  <a:pt x="0" y="9820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76320">
            <a:off x="1124140" y="1825809"/>
            <a:ext cx="3490732" cy="57150"/>
            <a:chOff x="0" y="0"/>
            <a:chExt cx="4654309" cy="76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654296" cy="76200"/>
            </a:xfrm>
            <a:custGeom>
              <a:avLst/>
              <a:gdLst/>
              <a:ahLst/>
              <a:cxnLst/>
              <a:rect r="r" b="b" t="t" l="l"/>
              <a:pathLst>
                <a:path h="76200" w="4654296">
                  <a:moveTo>
                    <a:pt x="0" y="0"/>
                  </a:moveTo>
                  <a:lnTo>
                    <a:pt x="4654296" y="76200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0" t="-1140149" r="0" b="-1140149"/>
              </a:stretch>
            </a:blipFill>
            <a:ln w="57150" cap="sq">
              <a:solidFill>
                <a:srgbClr val="0B533D"/>
              </a:solidFill>
              <a:prstDash val="solid"/>
              <a:miter/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1125312" y="585664"/>
            <a:ext cx="8671198" cy="990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51"/>
              </a:lnSpc>
            </a:pPr>
            <a:r>
              <a:rPr lang="en-US" sz="39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Impact &amp; Benifits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289370" y="9572720"/>
            <a:ext cx="784803" cy="4564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24"/>
              </a:lnSpc>
            </a:pPr>
            <a:r>
              <a:rPr lang="en-US" sz="21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0" y="9424245"/>
            <a:ext cx="18288000" cy="862755"/>
          </a:xfrm>
          <a:custGeom>
            <a:avLst/>
            <a:gdLst/>
            <a:ahLst/>
            <a:cxnLst/>
            <a:rect r="r" b="b" t="t" l="l"/>
            <a:pathLst>
              <a:path h="862755" w="18288000">
                <a:moveTo>
                  <a:pt x="0" y="0"/>
                </a:moveTo>
                <a:lnTo>
                  <a:pt x="18288000" y="0"/>
                </a:lnTo>
                <a:lnTo>
                  <a:pt x="18288000" y="862755"/>
                </a:lnTo>
                <a:lnTo>
                  <a:pt x="0" y="8627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6208852" y="9703384"/>
            <a:ext cx="5346630" cy="4534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7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SRCAS HACKATHON - 3.0 template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2573407"/>
            <a:ext cx="16556479" cy="25463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00101" indent="-266700" lvl="2">
              <a:lnSpc>
                <a:spcPts val="8750"/>
              </a:lnSpc>
              <a:buAutoNum type="arabicPeriod" startAt="1"/>
            </a:pPr>
            <a:r>
              <a:rPr lang="en-US" sz="3500">
                <a:solidFill>
                  <a:srgbClr val="0B53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Potential impact on target auidence</a:t>
            </a:r>
          </a:p>
          <a:p>
            <a:pPr algn="l" marL="800101" indent="-266700" lvl="2">
              <a:lnSpc>
                <a:spcPts val="8750"/>
              </a:lnSpc>
              <a:buAutoNum type="arabicPeriod" startAt="1"/>
            </a:pPr>
            <a:r>
              <a:rPr lang="en-US" sz="3500">
                <a:solidFill>
                  <a:srgbClr val="0B53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Benifits of the solution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4714122" y="342716"/>
            <a:ext cx="3263458" cy="982059"/>
          </a:xfrm>
          <a:custGeom>
            <a:avLst/>
            <a:gdLst/>
            <a:ahLst/>
            <a:cxnLst/>
            <a:rect r="r" b="b" t="t" l="l"/>
            <a:pathLst>
              <a:path h="982059" w="3263458">
                <a:moveTo>
                  <a:pt x="0" y="0"/>
                </a:moveTo>
                <a:lnTo>
                  <a:pt x="3263458" y="0"/>
                </a:lnTo>
                <a:lnTo>
                  <a:pt x="3263458" y="982059"/>
                </a:lnTo>
                <a:lnTo>
                  <a:pt x="0" y="9820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76320">
            <a:off x="1283579" y="2549709"/>
            <a:ext cx="3490598" cy="57150"/>
            <a:chOff x="0" y="0"/>
            <a:chExt cx="4654131" cy="76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654169" cy="76200"/>
            </a:xfrm>
            <a:custGeom>
              <a:avLst/>
              <a:gdLst/>
              <a:ahLst/>
              <a:cxnLst/>
              <a:rect r="r" b="b" t="t" l="l"/>
              <a:pathLst>
                <a:path h="76200" w="4654169">
                  <a:moveTo>
                    <a:pt x="0" y="0"/>
                  </a:moveTo>
                  <a:lnTo>
                    <a:pt x="4654169" y="76200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0" t="-1140103" r="0" b="-1140103"/>
              </a:stretch>
            </a:blipFill>
            <a:ln w="57150" cap="sq">
              <a:solidFill>
                <a:srgbClr val="0B533D"/>
              </a:solidFill>
              <a:prstDash val="solid"/>
              <a:miter/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1446038" y="1223343"/>
            <a:ext cx="9926260" cy="1011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553"/>
              </a:lnSpc>
            </a:pPr>
            <a:r>
              <a:rPr lang="en-US" sz="6600" b="true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Team Member Details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46038" y="2292525"/>
            <a:ext cx="5448252" cy="696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57"/>
              </a:lnSpc>
            </a:pPr>
            <a:r>
              <a:rPr lang="en-US" sz="2662" b="true">
                <a:solidFill>
                  <a:srgbClr val="0B533D"/>
                </a:solidFill>
                <a:latin typeface="Cambria Bold"/>
                <a:ea typeface="Cambria Bold"/>
                <a:cs typeface="Cambria Bold"/>
                <a:sym typeface="Cambria Bold"/>
              </a:rPr>
              <a:t>Team Leader Name:</a:t>
            </a:r>
          </a:p>
          <a:p>
            <a:pPr algn="l">
              <a:lnSpc>
                <a:spcPts val="6657"/>
              </a:lnSpc>
            </a:pPr>
            <a:r>
              <a:rPr lang="en-US" sz="2662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Branch: 	Stream: 	Year: </a:t>
            </a:r>
          </a:p>
          <a:p>
            <a:pPr algn="l">
              <a:lnSpc>
                <a:spcPts val="6657"/>
              </a:lnSpc>
            </a:pPr>
            <a:r>
              <a:rPr lang="en-US" sz="2662" b="true">
                <a:solidFill>
                  <a:srgbClr val="0B533D"/>
                </a:solidFill>
                <a:latin typeface="Cambria Bold"/>
                <a:ea typeface="Cambria Bold"/>
                <a:cs typeface="Cambria Bold"/>
                <a:sym typeface="Cambria Bold"/>
              </a:rPr>
              <a:t>Team Member 1 Name: </a:t>
            </a:r>
          </a:p>
          <a:p>
            <a:pPr algn="l">
              <a:lnSpc>
                <a:spcPts val="6657"/>
              </a:lnSpc>
            </a:pPr>
            <a:r>
              <a:rPr lang="en-US" sz="2662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Branch: 	Stream: 	Year:  </a:t>
            </a:r>
          </a:p>
          <a:p>
            <a:pPr algn="l">
              <a:lnSpc>
                <a:spcPts val="6657"/>
              </a:lnSpc>
            </a:pPr>
            <a:r>
              <a:rPr lang="en-US" sz="2662" b="true">
                <a:solidFill>
                  <a:srgbClr val="0B533D"/>
                </a:solidFill>
                <a:latin typeface="Cambria Bold"/>
                <a:ea typeface="Cambria Bold"/>
                <a:cs typeface="Cambria Bold"/>
                <a:sym typeface="Cambria Bold"/>
              </a:rPr>
              <a:t>Team Member 2 Name: </a:t>
            </a:r>
          </a:p>
          <a:p>
            <a:pPr algn="l">
              <a:lnSpc>
                <a:spcPts val="6657"/>
              </a:lnSpc>
            </a:pPr>
            <a:r>
              <a:rPr lang="en-US" sz="2662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Branch: 	Stream: 	Year: </a:t>
            </a:r>
          </a:p>
          <a:p>
            <a:pPr algn="l">
              <a:lnSpc>
                <a:spcPts val="6657"/>
              </a:lnSpc>
            </a:pPr>
            <a:r>
              <a:rPr lang="en-US" sz="2662" b="true">
                <a:solidFill>
                  <a:srgbClr val="0B533D"/>
                </a:solidFill>
                <a:latin typeface="Cambria Bold"/>
                <a:ea typeface="Cambria Bold"/>
                <a:cs typeface="Cambria Bold"/>
                <a:sym typeface="Cambria Bold"/>
              </a:rPr>
              <a:t>Team Member 3 Name: </a:t>
            </a:r>
          </a:p>
          <a:p>
            <a:pPr algn="l">
              <a:lnSpc>
                <a:spcPts val="6657"/>
              </a:lnSpc>
            </a:pPr>
            <a:r>
              <a:rPr lang="en-US" sz="2662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Branch: 	Stream: 	Year: 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0" y="9424245"/>
            <a:ext cx="18288000" cy="862755"/>
          </a:xfrm>
          <a:custGeom>
            <a:avLst/>
            <a:gdLst/>
            <a:ahLst/>
            <a:cxnLst/>
            <a:rect r="r" b="b" t="t" l="l"/>
            <a:pathLst>
              <a:path h="862755" w="18288000">
                <a:moveTo>
                  <a:pt x="0" y="0"/>
                </a:moveTo>
                <a:lnTo>
                  <a:pt x="18288000" y="0"/>
                </a:lnTo>
                <a:lnTo>
                  <a:pt x="18288000" y="862755"/>
                </a:lnTo>
                <a:lnTo>
                  <a:pt x="0" y="8627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6208852" y="9703384"/>
            <a:ext cx="5346630" cy="4534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7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SRCAS HACKATHON - 3.0 template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14714122" y="342716"/>
            <a:ext cx="3263458" cy="982059"/>
          </a:xfrm>
          <a:custGeom>
            <a:avLst/>
            <a:gdLst/>
            <a:ahLst/>
            <a:cxnLst/>
            <a:rect r="r" b="b" t="t" l="l"/>
            <a:pathLst>
              <a:path h="982059" w="3263458">
                <a:moveTo>
                  <a:pt x="0" y="0"/>
                </a:moveTo>
                <a:lnTo>
                  <a:pt x="3263458" y="0"/>
                </a:lnTo>
                <a:lnTo>
                  <a:pt x="3263458" y="982059"/>
                </a:lnTo>
                <a:lnTo>
                  <a:pt x="0" y="9820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DAHLmc-zqS8</dc:identifier>
  <dcterms:modified xsi:type="dcterms:W3CDTF">2011-08-01T06:04:30Z</dcterms:modified>
  <cp:revision>1</cp:revision>
  <dc:title>SRCAS HACKATHON 3.0.pptx</dc:title>
</cp:coreProperties>
</file>